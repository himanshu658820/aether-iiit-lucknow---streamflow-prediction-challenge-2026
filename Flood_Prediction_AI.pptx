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101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4008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686800" y="914400"/>
            <a:ext cx="32004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600" b="0" i="0">
                <a:solidFill>
                  <a:srgbClr val="0D284A"/>
                </a:solidFill>
              </a:rPr>
              <a:t>🌊🌊🌊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82296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5400" b="1" i="0">
                <a:solidFill>
                  <a:srgbClr val="FFFFFF"/>
                </a:solidFill>
              </a:rPr>
              <a:t>Flood Prediction AI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65176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 i="0">
                <a:solidFill>
                  <a:srgbClr val="06B6D4"/>
                </a:solidFill>
              </a:rPr>
              <a:t>Ganga-Brahmaputra Basin  ·  StreamFlow Prediction Challenge 2026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3337560"/>
            <a:ext cx="11064240" cy="2540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31520" y="3566160"/>
            <a:ext cx="2560320" cy="822960"/>
          </a:xfrm>
          <a:prstGeom prst="rect">
            <a:avLst/>
          </a:prstGeom>
          <a:solidFill>
            <a:srgbClr val="0F1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68680" y="361188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 i="0">
                <a:solidFill>
                  <a:srgbClr val="FFFFFF"/>
                </a:solidFill>
              </a:rPr>
              <a:t>🏆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25880" y="3630168"/>
            <a:ext cx="17373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64748B"/>
                </a:solidFill>
              </a:rPr>
              <a:t>Val KGE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25880" y="3858768"/>
            <a:ext cx="1828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22C55E"/>
                </a:solidFill>
              </a:rPr>
              <a:t>0.999875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474720" y="3566160"/>
            <a:ext cx="2560320" cy="822960"/>
          </a:xfrm>
          <a:prstGeom prst="rect">
            <a:avLst/>
          </a:prstGeom>
          <a:solidFill>
            <a:srgbClr val="0F1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611880" y="361188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 i="0">
                <a:solidFill>
                  <a:srgbClr val="FFFFFF"/>
                </a:solidFill>
              </a:rPr>
              <a:t>📡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069080" y="3630168"/>
            <a:ext cx="17373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64748B"/>
                </a:solidFill>
              </a:rPr>
              <a:t>Gauge Stations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069080" y="3858768"/>
            <a:ext cx="1828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3B82F6"/>
                </a:solidFill>
              </a:rPr>
              <a:t>367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217920" y="3566160"/>
            <a:ext cx="2560320" cy="822960"/>
          </a:xfrm>
          <a:prstGeom prst="rect">
            <a:avLst/>
          </a:prstGeom>
          <a:solidFill>
            <a:srgbClr val="0F1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355080" y="361188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 i="0">
                <a:solidFill>
                  <a:srgbClr val="FFFFFF"/>
                </a:solidFill>
              </a:rPr>
              <a:t>🔢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812280" y="3630168"/>
            <a:ext cx="17373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64748B"/>
                </a:solidFill>
              </a:rPr>
              <a:t>Features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812280" y="3858768"/>
            <a:ext cx="1828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6B6D4"/>
                </a:solidFill>
              </a:rPr>
              <a:t>94</a:t>
            </a:r>
          </a:p>
        </p:txBody>
      </p:sp>
      <p:sp>
        <p:nvSpPr>
          <p:cNvPr id="19" name="Rectangle 18"/>
          <p:cNvSpPr/>
          <p:nvPr/>
        </p:nvSpPr>
        <p:spPr>
          <a:xfrm>
            <a:off x="8961120" y="3566160"/>
            <a:ext cx="2560320" cy="822960"/>
          </a:xfrm>
          <a:prstGeom prst="rect">
            <a:avLst/>
          </a:prstGeom>
          <a:solidFill>
            <a:srgbClr val="0F1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098280" y="361188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 i="0">
                <a:solidFill>
                  <a:srgbClr val="FFFFFF"/>
                </a:solidFill>
              </a:rPr>
              <a:t>🌲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555480" y="3630168"/>
            <a:ext cx="17373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64748B"/>
                </a:solidFill>
              </a:rPr>
              <a:t>Models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555480" y="3858768"/>
            <a:ext cx="1828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59E0B"/>
                </a:solidFill>
              </a:rPr>
              <a:t>LGB + XGB + 10 Specialists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31520" y="4754880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1">
                <a:solidFill>
                  <a:srgbClr val="64748B"/>
                </a:solidFill>
              </a:rPr>
              <a:t>Team Aether  ·  IIIT Lucknow  ·  2026</a:t>
            </a:r>
          </a:p>
        </p:txBody>
      </p:sp>
      <p:sp>
        <p:nvSpPr>
          <p:cNvPr id="24" name="Rectangle 23"/>
          <p:cNvSpPr/>
          <p:nvPr/>
        </p:nvSpPr>
        <p:spPr>
          <a:xfrm>
            <a:off x="0" y="6793992"/>
            <a:ext cx="12188952" cy="64008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1247120" y="6492240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64748B"/>
                </a:solidFill>
              </a:rPr>
              <a:t>1 / 10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101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4008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64592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FFFFFF"/>
                </a:solidFill>
              </a:rPr>
              <a:t>The Challenge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777240"/>
            <a:ext cx="11064240" cy="2540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914400"/>
            <a:ext cx="6400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1">
                <a:solidFill>
                  <a:srgbClr val="06B6D4"/>
                </a:solidFill>
              </a:rPr>
              <a:t>Rivers don't flood without warning — they whisper first.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645920"/>
            <a:ext cx="658368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CBD5E1"/>
                </a:solidFill>
              </a:rPr>
              <a:t>The Ganga-Brahmaputra basin is one of the most flood-prone river networks on Earth. Every monsoon season, thousands of lives and millions of hectares of farmland are threatened by floods that traditional rule-based systems fail to forecast in time.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3246120"/>
            <a:ext cx="6583680" cy="1371600"/>
          </a:xfrm>
          <a:prstGeom prst="rect">
            <a:avLst/>
          </a:prstGeom>
          <a:solidFill>
            <a:srgbClr val="0F1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3337560"/>
            <a:ext cx="6217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59E0B"/>
                </a:solidFill>
              </a:rPr>
              <a:t>🎯  GOAL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3703320"/>
            <a:ext cx="62179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CBD5E1"/>
                </a:solidFill>
              </a:rPr>
              <a:t>Build a machine learning model to predict the next-day streamflow (t+1) at a river gauge station in m³/s (cumecs), given pre-engineered hydro-meteorological features.</a:t>
            </a:r>
          </a:p>
        </p:txBody>
      </p:sp>
      <p:sp>
        <p:nvSpPr>
          <p:cNvPr id="10" name="Rectangle 9"/>
          <p:cNvSpPr/>
          <p:nvPr/>
        </p:nvSpPr>
        <p:spPr>
          <a:xfrm>
            <a:off x="7589520" y="914400"/>
            <a:ext cx="4206240" cy="3200400"/>
          </a:xfrm>
          <a:prstGeom prst="rect">
            <a:avLst/>
          </a:prstGeom>
          <a:solidFill>
            <a:srgbClr val="0F1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772400" y="1051560"/>
            <a:ext cx="3840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6B6D4"/>
                </a:solidFill>
              </a:rPr>
              <a:t>Key Facts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54112" y="1435608"/>
            <a:ext cx="3877056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CBD5E1"/>
                </a:solidFill>
              </a:rPr>
              <a:t>▸  Primary metric: KGE (Kling-Gupta Efficiency)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754112" y="1773936"/>
            <a:ext cx="3877056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CBD5E1"/>
                </a:solidFill>
              </a:rPr>
              <a:t>▸  Target: next-day discharge Q(t+1)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754112" y="2112264"/>
            <a:ext cx="3877056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CBD5E1"/>
                </a:solidFill>
              </a:rPr>
              <a:t>▸  367 gauge stations across India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754112" y="2450592"/>
            <a:ext cx="3877056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CBD5E1"/>
                </a:solidFill>
              </a:rPr>
              <a:t>▸  Monsoon season focus (June–September)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754112" y="2788920"/>
            <a:ext cx="3877056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CBD5E1"/>
                </a:solidFill>
              </a:rPr>
              <a:t>▸  ML replaces traditional rule-based models</a:t>
            </a:r>
          </a:p>
        </p:txBody>
      </p:sp>
      <p:sp>
        <p:nvSpPr>
          <p:cNvPr id="17" name="Rectangle 16"/>
          <p:cNvSpPr/>
          <p:nvPr/>
        </p:nvSpPr>
        <p:spPr>
          <a:xfrm>
            <a:off x="0" y="6793992"/>
            <a:ext cx="12188952" cy="64008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1247120" y="6492240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64748B"/>
                </a:solidFill>
              </a:rPr>
              <a:t>2 / 10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101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4008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64592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FFFFFF"/>
                </a:solidFill>
              </a:rPr>
              <a:t>Dataset &amp; Feature Engineering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777240"/>
            <a:ext cx="11064240" cy="2540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57200" y="1005840"/>
            <a:ext cx="3611880" cy="5303520"/>
          </a:xfrm>
          <a:prstGeom prst="rect">
            <a:avLst/>
          </a:prstGeom>
          <a:solidFill>
            <a:srgbClr val="0F1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21792" y="109728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3B82F6"/>
                </a:solidFill>
              </a:rPr>
              <a:t>📊 Raw Data</a:t>
            </a:r>
          </a:p>
        </p:txBody>
      </p:sp>
      <p:sp>
        <p:nvSpPr>
          <p:cNvPr id="7" name="Rectangle 6"/>
          <p:cNvSpPr/>
          <p:nvPr/>
        </p:nvSpPr>
        <p:spPr>
          <a:xfrm>
            <a:off x="621792" y="1508760"/>
            <a:ext cx="3246120" cy="1905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58368" y="1600200"/>
            <a:ext cx="3200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CBD5E1"/>
                </a:solidFill>
              </a:rPr>
              <a:t>▸  367 gauge station records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8368" y="1947672"/>
            <a:ext cx="3200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CBD5E1"/>
                </a:solidFill>
              </a:rPr>
              <a:t>▸  Daily streamflow (cumecs)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8368" y="2295144"/>
            <a:ext cx="3200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CBD5E1"/>
                </a:solidFill>
              </a:rPr>
              <a:t>▸  Rainfall (upstream/local)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58368" y="2642616"/>
            <a:ext cx="3200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CBD5E1"/>
                </a:solidFill>
              </a:rPr>
              <a:t>▸  Soil moisture indices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8368" y="2990088"/>
            <a:ext cx="3200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CBD5E1"/>
                </a:solidFill>
              </a:rPr>
              <a:t>▸  Temperature &amp; humidity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343400" y="1005840"/>
            <a:ext cx="3611880" cy="5303520"/>
          </a:xfrm>
          <a:prstGeom prst="rect">
            <a:avLst/>
          </a:prstGeom>
          <a:solidFill>
            <a:srgbClr val="0F1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507992" y="109728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6B6D4"/>
                </a:solidFill>
              </a:rPr>
              <a:t>🔧 Engineered Features (94)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507992" y="1508760"/>
            <a:ext cx="3246120" cy="19050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544568" y="1600200"/>
            <a:ext cx="3200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CBD5E1"/>
                </a:solidFill>
              </a:rPr>
              <a:t>▸  Flow lags: t-1 to t-30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44568" y="1947672"/>
            <a:ext cx="3200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CBD5E1"/>
                </a:solidFill>
              </a:rPr>
              <a:t>▸  Rolling means: 3/7/14/30d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44568" y="2295144"/>
            <a:ext cx="3200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CBD5E1"/>
                </a:solidFill>
              </a:rPr>
              <a:t>▸  Log-space transformations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44568" y="2642616"/>
            <a:ext cx="3200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CBD5E1"/>
                </a:solidFill>
              </a:rPr>
              <a:t>▸  Rain-flow ratio features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44568" y="2990088"/>
            <a:ext cx="3200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CBD5E1"/>
                </a:solidFill>
              </a:rPr>
              <a:t>▸  Monsoon flag &amp; DOY encoding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44568" y="3337560"/>
            <a:ext cx="3200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CBD5E1"/>
                </a:solidFill>
              </a:rPr>
              <a:t>▸  Pre-flood alarm signals</a:t>
            </a:r>
          </a:p>
        </p:txBody>
      </p:sp>
      <p:sp>
        <p:nvSpPr>
          <p:cNvPr id="22" name="Rectangle 21"/>
          <p:cNvSpPr/>
          <p:nvPr/>
        </p:nvSpPr>
        <p:spPr>
          <a:xfrm>
            <a:off x="8229600" y="1005840"/>
            <a:ext cx="3611880" cy="5303520"/>
          </a:xfrm>
          <a:prstGeom prst="rect">
            <a:avLst/>
          </a:prstGeom>
          <a:solidFill>
            <a:srgbClr val="0F1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394192" y="109728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59E0B"/>
                </a:solidFill>
              </a:rPr>
              <a:t>📡 Station Features</a:t>
            </a:r>
          </a:p>
        </p:txBody>
      </p:sp>
      <p:sp>
        <p:nvSpPr>
          <p:cNvPr id="24" name="Rectangle 23"/>
          <p:cNvSpPr/>
          <p:nvPr/>
        </p:nvSpPr>
        <p:spPr>
          <a:xfrm>
            <a:off x="8394192" y="1508760"/>
            <a:ext cx="3246120" cy="1905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430768" y="1600200"/>
            <a:ext cx="3200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CBD5E1"/>
                </a:solidFill>
              </a:rPr>
              <a:t>▸  Basin area (km²)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430768" y="1947672"/>
            <a:ext cx="3200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CBD5E1"/>
                </a:solidFill>
              </a:rPr>
              <a:t>▸  Elevation &amp; slope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430768" y="2295144"/>
            <a:ext cx="3200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CBD5E1"/>
                </a:solidFill>
              </a:rPr>
              <a:t>▸  Upstream station count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430768" y="2642616"/>
            <a:ext cx="3200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CBD5E1"/>
                </a:solidFill>
              </a:rPr>
              <a:t>▸  River network position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430768" y="2990088"/>
            <a:ext cx="3200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CBD5E1"/>
                </a:solidFill>
              </a:rPr>
              <a:t>▸  Catchment characteristics</a:t>
            </a:r>
          </a:p>
        </p:txBody>
      </p:sp>
      <p:sp>
        <p:nvSpPr>
          <p:cNvPr id="30" name="Rectangle 29"/>
          <p:cNvSpPr/>
          <p:nvPr/>
        </p:nvSpPr>
        <p:spPr>
          <a:xfrm>
            <a:off x="0" y="6793992"/>
            <a:ext cx="12188952" cy="64008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11247120" y="6492240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64748B"/>
                </a:solidFill>
              </a:rPr>
              <a:t>3 / 10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101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4008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64592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FFFFFF"/>
                </a:solidFill>
              </a:rPr>
              <a:t>Model Architecture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777240"/>
            <a:ext cx="11064240" cy="2540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365760" y="1005840"/>
            <a:ext cx="2560320" cy="1188720"/>
          </a:xfrm>
          <a:prstGeom prst="rect">
            <a:avLst/>
          </a:prstGeom>
          <a:solidFill>
            <a:srgbClr val="0F1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365760" y="1005840"/>
            <a:ext cx="54864" cy="118872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1097280"/>
            <a:ext cx="22860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FFFFFF"/>
                </a:solidFill>
              </a:rPr>
              <a:t>📥 Input Features
(94 features × N rows)</a:t>
            </a:r>
          </a:p>
        </p:txBody>
      </p:sp>
      <p:sp>
        <p:nvSpPr>
          <p:cNvPr id="8" name="Rectangle 7"/>
          <p:cNvSpPr/>
          <p:nvPr/>
        </p:nvSpPr>
        <p:spPr>
          <a:xfrm>
            <a:off x="3200400" y="777240"/>
            <a:ext cx="2560320" cy="1188720"/>
          </a:xfrm>
          <a:prstGeom prst="rect">
            <a:avLst/>
          </a:prstGeom>
          <a:solidFill>
            <a:srgbClr val="0F1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3200400" y="777240"/>
            <a:ext cx="54864" cy="1188720"/>
          </a:xfrm>
          <a:prstGeom prst="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337560" y="868680"/>
            <a:ext cx="22860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FFFFFF"/>
                </a:solidFill>
              </a:rPr>
              <a:t>🌲 LightGBM
Global Model
(511 leaves, lr=0.03)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200400" y="2331720"/>
            <a:ext cx="2560320" cy="1188720"/>
          </a:xfrm>
          <a:prstGeom prst="rect">
            <a:avLst/>
          </a:prstGeom>
          <a:solidFill>
            <a:srgbClr val="0F1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3200400" y="2331720"/>
            <a:ext cx="54864" cy="1188720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337560" y="2423160"/>
            <a:ext cx="22860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FFFFFF"/>
                </a:solidFill>
              </a:rPr>
              <a:t>🌳 XGBoost
Global Model
(depth=9, CUDA)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200400" y="3886200"/>
            <a:ext cx="2560320" cy="1188720"/>
          </a:xfrm>
          <a:prstGeom prst="rect">
            <a:avLst/>
          </a:prstGeom>
          <a:solidFill>
            <a:srgbClr val="0F1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3200400" y="3886200"/>
            <a:ext cx="54864" cy="118872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337560" y="3977640"/>
            <a:ext cx="22860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FFFFFF"/>
                </a:solidFill>
              </a:rPr>
              <a:t>🔬 10 Station
Specialist LGB
(worst stations)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492240" y="2011680"/>
            <a:ext cx="2560320" cy="1188720"/>
          </a:xfrm>
          <a:prstGeom prst="rect">
            <a:avLst/>
          </a:prstGeom>
          <a:solidFill>
            <a:srgbClr val="0F1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492240" y="2011680"/>
            <a:ext cx="54864" cy="1188720"/>
          </a:xfrm>
          <a:prstGeom prst="rect">
            <a:avLst/>
          </a:prstGeom>
          <a:solidFill>
            <a:srgbClr val="A85E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629400" y="2103120"/>
            <a:ext cx="22860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FFFFFF"/>
                </a:solidFill>
              </a:rPr>
              <a:t>⚡ KGE-Optimised
Blending
(scipy 40 restarts)</a:t>
            </a:r>
          </a:p>
        </p:txBody>
      </p:sp>
      <p:sp>
        <p:nvSpPr>
          <p:cNvPr id="20" name="Rectangle 19"/>
          <p:cNvSpPr/>
          <p:nvPr/>
        </p:nvSpPr>
        <p:spPr>
          <a:xfrm>
            <a:off x="9144000" y="2011680"/>
            <a:ext cx="2560320" cy="1188720"/>
          </a:xfrm>
          <a:prstGeom prst="rect">
            <a:avLst/>
          </a:prstGeom>
          <a:solidFill>
            <a:srgbClr val="0F1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9144000" y="2011680"/>
            <a:ext cx="54864" cy="1188720"/>
          </a:xfrm>
          <a:prstGeom prst="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281160" y="2103120"/>
            <a:ext cx="22860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FFFFFF"/>
                </a:solidFill>
              </a:rPr>
              <a:t>📤 Final
Q(t+1)
Prediction</a:t>
            </a:r>
          </a:p>
        </p:txBody>
      </p:sp>
      <p:sp>
        <p:nvSpPr>
          <p:cNvPr id="23" name="Rectangle 22"/>
          <p:cNvSpPr/>
          <p:nvPr/>
        </p:nvSpPr>
        <p:spPr>
          <a:xfrm>
            <a:off x="365760" y="5349240"/>
            <a:ext cx="11247120" cy="1188720"/>
          </a:xfrm>
          <a:prstGeom prst="rect">
            <a:avLst/>
          </a:prstGeom>
          <a:solidFill>
            <a:srgbClr val="0F1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40080" y="5413248"/>
            <a:ext cx="3474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59E0B"/>
                </a:solidFill>
              </a:rPr>
              <a:t>🔧 Bias Correction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0080" y="5742432"/>
            <a:ext cx="34747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BD5E1"/>
                </a:solidFill>
              </a:rPr>
              <a:t>Per-station multiplicative scale
(fitted on validation residuals)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434840" y="5413248"/>
            <a:ext cx="3474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6B6D4"/>
                </a:solidFill>
              </a:rPr>
              <a:t>📐 Delta-Target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434840" y="5742432"/>
            <a:ext cx="34747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BD5E1"/>
                </a:solidFill>
              </a:rPr>
              <a:t>Predicts Δlog(Q) not log(Q)
10× lower target variance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229600" y="5413248"/>
            <a:ext cx="3474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22C55E"/>
                </a:solidFill>
              </a:rPr>
              <a:t>⚖️ Flood Weighting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229600" y="5742432"/>
            <a:ext cx="34747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BD5E1"/>
                </a:solidFill>
              </a:rPr>
              <a:t>High-flow rows get 5× gradient
for better peak sensitivity</a:t>
            </a:r>
          </a:p>
        </p:txBody>
      </p:sp>
      <p:sp>
        <p:nvSpPr>
          <p:cNvPr id="30" name="Rectangle 29"/>
          <p:cNvSpPr/>
          <p:nvPr/>
        </p:nvSpPr>
        <p:spPr>
          <a:xfrm>
            <a:off x="0" y="6793992"/>
            <a:ext cx="12188952" cy="64008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11247120" y="6492240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64748B"/>
                </a:solidFill>
              </a:rPr>
              <a:t>4 / 10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101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4008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64592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FFFFFF"/>
                </a:solidFill>
              </a:rPr>
              <a:t>5 Key Innovations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777240"/>
            <a:ext cx="11064240" cy="2540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57200" y="914400"/>
            <a:ext cx="11247120" cy="914400"/>
          </a:xfrm>
          <a:prstGeom prst="rect">
            <a:avLst/>
          </a:prstGeom>
          <a:solidFill>
            <a:srgbClr val="0F1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57200" y="914400"/>
            <a:ext cx="548640" cy="91440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75488" y="1170432"/>
            <a:ext cx="512064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</a:rPr>
              <a:t>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43000" y="987552"/>
            <a:ext cx="3200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3B82F6"/>
                </a:solidFill>
              </a:rPr>
              <a:t>Delta-Target Formulation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43000" y="1353312"/>
            <a:ext cx="10332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CBD5E1"/>
                </a:solidFill>
              </a:rPr>
              <a:t>Predicts Δlog(Q(t+1)) instead of log(Q(t+1)) directly. This reduces target variance by ~10×, making peak flows far easier to learn.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" y="1920240"/>
            <a:ext cx="11247120" cy="914400"/>
          </a:xfrm>
          <a:prstGeom prst="rect">
            <a:avLst/>
          </a:prstGeom>
          <a:solidFill>
            <a:srgbClr val="0F1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57200" y="1920240"/>
            <a:ext cx="548640" cy="91440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75488" y="2176272"/>
            <a:ext cx="512064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</a:rPr>
              <a:t>02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43000" y="1993392"/>
            <a:ext cx="3200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59E0B"/>
                </a:solidFill>
              </a:rPr>
              <a:t>Flood-Weighted Loss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43000" y="2359152"/>
            <a:ext cx="10332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CBD5E1"/>
                </a:solidFill>
              </a:rPr>
              <a:t>Rows where Q &gt; 75th percentile receive 5× gradient weight. Forces the ensemble to prioritise accurate prediction of dangerous high-flow events.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57200" y="2926080"/>
            <a:ext cx="11247120" cy="914400"/>
          </a:xfrm>
          <a:prstGeom prst="rect">
            <a:avLst/>
          </a:prstGeom>
          <a:solidFill>
            <a:srgbClr val="0F1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457200" y="2926080"/>
            <a:ext cx="548640" cy="914400"/>
          </a:xfrm>
          <a:prstGeom prst="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75488" y="3182112"/>
            <a:ext cx="512064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</a:rPr>
              <a:t>03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43000" y="2999232"/>
            <a:ext cx="3200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22C55E"/>
                </a:solidFill>
              </a:rPr>
              <a:t>Per-Station Specialist Models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43000" y="3364992"/>
            <a:ext cx="10332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CBD5E1"/>
                </a:solidFill>
              </a:rPr>
              <a:t>The 10 hardest gauge stations get dedicated LightGBM models trained exclusively on their data, replacing global predictions for those locations.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57200" y="3931920"/>
            <a:ext cx="11247120" cy="914400"/>
          </a:xfrm>
          <a:prstGeom prst="rect">
            <a:avLst/>
          </a:prstGeom>
          <a:solidFill>
            <a:srgbClr val="0F1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457200" y="3931920"/>
            <a:ext cx="548640" cy="914400"/>
          </a:xfrm>
          <a:prstGeom prst="rect">
            <a:avLst/>
          </a:prstGeom>
          <a:solidFill>
            <a:srgbClr val="A85E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75488" y="4187952"/>
            <a:ext cx="512064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</a:rPr>
              <a:t>04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143000" y="4005072"/>
            <a:ext cx="3200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A85EF5"/>
                </a:solidFill>
              </a:rPr>
              <a:t>KGE-Optimised Blending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143000" y="4370832"/>
            <a:ext cx="10332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CBD5E1"/>
                </a:solidFill>
              </a:rPr>
              <a:t>Ensemble weights are found by directly maximising KGE on the validation set using scipy.optimize with 40 random restarts to avoid local minima.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57200" y="4937760"/>
            <a:ext cx="11247120" cy="914400"/>
          </a:xfrm>
          <a:prstGeom prst="rect">
            <a:avLst/>
          </a:prstGeom>
          <a:solidFill>
            <a:srgbClr val="0F1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457200" y="4937760"/>
            <a:ext cx="548640" cy="914400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75488" y="5193792"/>
            <a:ext cx="512064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</a:rPr>
              <a:t>05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143000" y="5010912"/>
            <a:ext cx="3200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6B6D4"/>
                </a:solidFill>
              </a:rPr>
              <a:t>Multiplicative Bias Correction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43000" y="5376672"/>
            <a:ext cx="10332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CBD5E1"/>
                </a:solidFill>
              </a:rPr>
              <a:t>Per-station scale factors are fitted on validation residuals and applied at inference time to remove systematic station-level bias.</a:t>
            </a:r>
          </a:p>
        </p:txBody>
      </p:sp>
      <p:sp>
        <p:nvSpPr>
          <p:cNvPr id="30" name="Rectangle 29"/>
          <p:cNvSpPr/>
          <p:nvPr/>
        </p:nvSpPr>
        <p:spPr>
          <a:xfrm>
            <a:off x="0" y="6793992"/>
            <a:ext cx="12188952" cy="64008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11247120" y="6492240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64748B"/>
                </a:solidFill>
              </a:rPr>
              <a:t>5 / 10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101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4008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64592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FFFFFF"/>
                </a:solidFill>
              </a:rPr>
              <a:t>Results &amp; Performance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777240"/>
            <a:ext cx="11064240" cy="2540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57200" y="960120"/>
            <a:ext cx="5029200" cy="2286000"/>
          </a:xfrm>
          <a:prstGeom prst="rect">
            <a:avLst/>
          </a:prstGeom>
          <a:solidFill>
            <a:srgbClr val="0F1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105156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64748B"/>
                </a:solidFill>
              </a:rPr>
              <a:t>Validation KGE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417320"/>
            <a:ext cx="45720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6000" b="1" i="0">
                <a:solidFill>
                  <a:srgbClr val="22C55E"/>
                </a:solidFill>
              </a:rPr>
              <a:t>0.999875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2377440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22C55E"/>
                </a:solidFill>
              </a:rPr>
              <a:t>Near-perfect skill score  ·  top 0.01% range</a:t>
            </a:r>
          </a:p>
        </p:txBody>
      </p:sp>
      <p:sp>
        <p:nvSpPr>
          <p:cNvPr id="9" name="Rectangle 8"/>
          <p:cNvSpPr/>
          <p:nvPr/>
        </p:nvSpPr>
        <p:spPr>
          <a:xfrm>
            <a:off x="5760720" y="960120"/>
            <a:ext cx="5943600" cy="475488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852160" y="1033272"/>
            <a:ext cx="292608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KGE Component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778240" y="1033272"/>
            <a:ext cx="109728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Score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875520" y="1033272"/>
            <a:ext cx="18288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Meaning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760720" y="1435608"/>
            <a:ext cx="5943600" cy="475488"/>
          </a:xfrm>
          <a:prstGeom prst="rect">
            <a:avLst/>
          </a:prstGeom>
          <a:solidFill>
            <a:srgbClr val="0F1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852160" y="1508760"/>
            <a:ext cx="292608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CBD5E1"/>
                </a:solidFill>
              </a:rPr>
              <a:t>Pearson r (correlation)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778240" y="1508760"/>
            <a:ext cx="109728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22C55E"/>
                </a:solidFill>
              </a:rPr>
              <a:t>0.9999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875520" y="1508760"/>
            <a:ext cx="18288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BD5E1"/>
                </a:solidFill>
              </a:rPr>
              <a:t>Almost perfect timing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760720" y="1911096"/>
            <a:ext cx="5943600" cy="475488"/>
          </a:xfrm>
          <a:prstGeom prst="rect">
            <a:avLst/>
          </a:prstGeom>
          <a:solidFill>
            <a:srgbClr val="1023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852160" y="1984248"/>
            <a:ext cx="292608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CBD5E1"/>
                </a:solidFill>
              </a:rPr>
              <a:t>Alpha α (variability)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778240" y="1984248"/>
            <a:ext cx="109728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22C55E"/>
                </a:solidFill>
              </a:rPr>
              <a:t>0.9999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875520" y="1984248"/>
            <a:ext cx="18288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BD5E1"/>
                </a:solidFill>
              </a:rPr>
              <a:t>Flow magnitude correct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760720" y="2386584"/>
            <a:ext cx="5943600" cy="475488"/>
          </a:xfrm>
          <a:prstGeom prst="rect">
            <a:avLst/>
          </a:prstGeom>
          <a:solidFill>
            <a:srgbClr val="0F1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852160" y="2459736"/>
            <a:ext cx="292608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CBD5E1"/>
                </a:solidFill>
              </a:rPr>
              <a:t>Beta β (bias)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778240" y="2459736"/>
            <a:ext cx="109728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22C55E"/>
                </a:solidFill>
              </a:rPr>
              <a:t>1.0000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875520" y="2459736"/>
            <a:ext cx="18288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BD5E1"/>
                </a:solidFill>
              </a:rPr>
              <a:t>Zero systematic bias</a:t>
            </a:r>
          </a:p>
        </p:txBody>
      </p:sp>
      <p:sp>
        <p:nvSpPr>
          <p:cNvPr id="25" name="Rectangle 24"/>
          <p:cNvSpPr/>
          <p:nvPr/>
        </p:nvSpPr>
        <p:spPr>
          <a:xfrm>
            <a:off x="5760720" y="2862072"/>
            <a:ext cx="5943600" cy="475488"/>
          </a:xfrm>
          <a:prstGeom prst="rect">
            <a:avLst/>
          </a:prstGeom>
          <a:solidFill>
            <a:srgbClr val="1023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5852160" y="2935224"/>
            <a:ext cx="292608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CBD5E1"/>
                </a:solidFill>
              </a:rPr>
              <a:t>NSE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778240" y="2935224"/>
            <a:ext cx="109728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22C55E"/>
                </a:solidFill>
              </a:rPr>
              <a:t>0.999827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875520" y="2935224"/>
            <a:ext cx="18288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BD5E1"/>
                </a:solidFill>
              </a:rPr>
              <a:t>Explains 99.98% of variance</a:t>
            </a:r>
          </a:p>
        </p:txBody>
      </p:sp>
      <p:sp>
        <p:nvSpPr>
          <p:cNvPr id="29" name="Rectangle 28"/>
          <p:cNvSpPr/>
          <p:nvPr/>
        </p:nvSpPr>
        <p:spPr>
          <a:xfrm>
            <a:off x="5760720" y="3337560"/>
            <a:ext cx="5943600" cy="475488"/>
          </a:xfrm>
          <a:prstGeom prst="rect">
            <a:avLst/>
          </a:prstGeom>
          <a:solidFill>
            <a:srgbClr val="0F1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5852160" y="3410712"/>
            <a:ext cx="292608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CBD5E1"/>
                </a:solidFill>
              </a:rPr>
              <a:t>Δ vs baseline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778240" y="3410712"/>
            <a:ext cx="109728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22C55E"/>
                </a:solidFill>
              </a:rPr>
              <a:t>+0.001993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875520" y="3410712"/>
            <a:ext cx="18288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BD5E1"/>
                </a:solidFill>
              </a:rPr>
              <a:t>Clear improvement</a:t>
            </a:r>
          </a:p>
        </p:txBody>
      </p:sp>
      <p:sp>
        <p:nvSpPr>
          <p:cNvPr id="33" name="Rectangle 32"/>
          <p:cNvSpPr/>
          <p:nvPr/>
        </p:nvSpPr>
        <p:spPr>
          <a:xfrm>
            <a:off x="457200" y="3429000"/>
            <a:ext cx="5029200" cy="2651760"/>
          </a:xfrm>
          <a:prstGeom prst="rect">
            <a:avLst/>
          </a:prstGeom>
          <a:solidFill>
            <a:srgbClr val="0F1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40080" y="3520440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6B6D4"/>
                </a:solidFill>
              </a:rPr>
              <a:t>Model Progression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40080" y="3931920"/>
            <a:ext cx="2560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BD5E1"/>
                </a:solidFill>
              </a:rPr>
              <a:t>v7  Baseline LGB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114800" y="3931920"/>
            <a:ext cx="1188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1" i="0">
                <a:solidFill>
                  <a:srgbClr val="22C55E"/>
                </a:solidFill>
              </a:rPr>
              <a:t>0.997260</a:t>
            </a:r>
          </a:p>
        </p:txBody>
      </p:sp>
      <p:sp>
        <p:nvSpPr>
          <p:cNvPr id="37" name="Rectangle 36"/>
          <p:cNvSpPr/>
          <p:nvPr/>
        </p:nvSpPr>
        <p:spPr>
          <a:xfrm>
            <a:off x="640080" y="4224528"/>
            <a:ext cx="2743200" cy="109728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640080" y="4224528"/>
            <a:ext cx="914399" cy="109728"/>
          </a:xfrm>
          <a:prstGeom prst="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640080" y="4498848"/>
            <a:ext cx="2560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BD5E1"/>
                </a:solidFill>
              </a:rPr>
              <a:t>v8  + XGB Ensemble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4114800" y="4498848"/>
            <a:ext cx="1188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1" i="0">
                <a:solidFill>
                  <a:srgbClr val="22C55E"/>
                </a:solidFill>
              </a:rPr>
              <a:t>0.997260</a:t>
            </a:r>
          </a:p>
        </p:txBody>
      </p:sp>
      <p:sp>
        <p:nvSpPr>
          <p:cNvPr id="41" name="Rectangle 40"/>
          <p:cNvSpPr/>
          <p:nvPr/>
        </p:nvSpPr>
        <p:spPr>
          <a:xfrm>
            <a:off x="640080" y="4791456"/>
            <a:ext cx="2743200" cy="109728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640080" y="4791456"/>
            <a:ext cx="914399" cy="109728"/>
          </a:xfrm>
          <a:prstGeom prst="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640080" y="5065776"/>
            <a:ext cx="2560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BD5E1"/>
                </a:solidFill>
              </a:rPr>
              <a:t>v9  + Delta + Specialists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4114800" y="5065776"/>
            <a:ext cx="1188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1" i="0">
                <a:solidFill>
                  <a:srgbClr val="22C55E"/>
                </a:solidFill>
              </a:rPr>
              <a:t>0.999875</a:t>
            </a:r>
          </a:p>
        </p:txBody>
      </p:sp>
      <p:sp>
        <p:nvSpPr>
          <p:cNvPr id="45" name="Rectangle 44"/>
          <p:cNvSpPr/>
          <p:nvPr/>
        </p:nvSpPr>
        <p:spPr>
          <a:xfrm>
            <a:off x="640080" y="5358384"/>
            <a:ext cx="2743200" cy="109728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ectangle 45"/>
          <p:cNvSpPr/>
          <p:nvPr/>
        </p:nvSpPr>
        <p:spPr>
          <a:xfrm>
            <a:off x="640080" y="5358384"/>
            <a:ext cx="2834640" cy="109728"/>
          </a:xfrm>
          <a:prstGeom prst="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ectangle 46"/>
          <p:cNvSpPr/>
          <p:nvPr/>
        </p:nvSpPr>
        <p:spPr>
          <a:xfrm>
            <a:off x="0" y="6793992"/>
            <a:ext cx="12188952" cy="64008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11247120" y="6492240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64748B"/>
                </a:solidFill>
              </a:rPr>
              <a:t>6 / 10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101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4008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64592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FFFFFF"/>
                </a:solidFill>
              </a:rPr>
              <a:t>Inference Pipeline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777240"/>
            <a:ext cx="11064240" cy="2540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320040" y="1005840"/>
            <a:ext cx="1371600" cy="1325880"/>
          </a:xfrm>
          <a:prstGeom prst="rect">
            <a:avLst/>
          </a:prstGeom>
          <a:solidFill>
            <a:srgbClr val="0F1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320040" y="1005840"/>
            <a:ext cx="1371600" cy="73152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65760" y="1115568"/>
            <a:ext cx="3200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3B82F6"/>
                </a:solidFill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1463040"/>
            <a:ext cx="12801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</a:rPr>
              <a:t>Load raw test CSV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5760" y="1847088"/>
            <a:ext cx="128016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CBD5E1"/>
                </a:solidFill>
              </a:rPr>
              <a:t>station_id, date,
flow, rain features</a:t>
            </a:r>
          </a:p>
        </p:txBody>
      </p:sp>
      <p:sp>
        <p:nvSpPr>
          <p:cNvPr id="10" name="Rectangle 9"/>
          <p:cNvSpPr/>
          <p:nvPr/>
        </p:nvSpPr>
        <p:spPr>
          <a:xfrm>
            <a:off x="1709928" y="1600200"/>
            <a:ext cx="109728" cy="1905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1819656" y="1005840"/>
            <a:ext cx="1371600" cy="1325880"/>
          </a:xfrm>
          <a:prstGeom prst="rect">
            <a:avLst/>
          </a:prstGeom>
          <a:solidFill>
            <a:srgbClr val="0F1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1819656" y="1005840"/>
            <a:ext cx="1371600" cy="73152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865376" y="1115568"/>
            <a:ext cx="3200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06B6D4"/>
                </a:solidFill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865376" y="1463040"/>
            <a:ext cx="12801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</a:rPr>
              <a:t>Feature Engineering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865376" y="1847088"/>
            <a:ext cx="128016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CBD5E1"/>
                </a:solidFill>
              </a:rPr>
              <a:t>94 features: lags,
rolling, log-space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209544" y="1600200"/>
            <a:ext cx="109728" cy="19050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3319272" y="1005840"/>
            <a:ext cx="1371600" cy="1325880"/>
          </a:xfrm>
          <a:prstGeom prst="rect">
            <a:avLst/>
          </a:prstGeom>
          <a:solidFill>
            <a:srgbClr val="0F1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3319272" y="1005840"/>
            <a:ext cx="1371600" cy="73152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364992" y="1115568"/>
            <a:ext cx="3200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F59E0B"/>
                </a:solidFill>
              </a:rPr>
              <a:t>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364992" y="1463040"/>
            <a:ext cx="12801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</a:rPr>
              <a:t>Station Merge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364992" y="1847088"/>
            <a:ext cx="128016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CBD5E1"/>
                </a:solidFill>
              </a:rPr>
              <a:t>Add static basin
features per station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709160" y="1600200"/>
            <a:ext cx="109728" cy="1905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4818888" y="1005840"/>
            <a:ext cx="1371600" cy="1325880"/>
          </a:xfrm>
          <a:prstGeom prst="rect">
            <a:avLst/>
          </a:prstGeom>
          <a:solidFill>
            <a:srgbClr val="0F1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4818888" y="1005840"/>
            <a:ext cx="1371600" cy="73152"/>
          </a:xfrm>
          <a:prstGeom prst="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864608" y="1115568"/>
            <a:ext cx="3200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22C55E"/>
                </a:solidFill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864608" y="1463040"/>
            <a:ext cx="12801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</a:rPr>
              <a:t>Global Ensemble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864608" y="1847088"/>
            <a:ext cx="128016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CBD5E1"/>
                </a:solidFill>
              </a:rPr>
              <a:t>LGB + XGB predict
Δlog(Q) separately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208776" y="1600200"/>
            <a:ext cx="109728" cy="19050"/>
          </a:xfrm>
          <a:prstGeom prst="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6318504" y="1005840"/>
            <a:ext cx="1371600" cy="1325880"/>
          </a:xfrm>
          <a:prstGeom prst="rect">
            <a:avLst/>
          </a:prstGeom>
          <a:solidFill>
            <a:srgbClr val="0F1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6318504" y="1005840"/>
            <a:ext cx="1371600" cy="73152"/>
          </a:xfrm>
          <a:prstGeom prst="rect">
            <a:avLst/>
          </a:prstGeom>
          <a:solidFill>
            <a:srgbClr val="A85E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364224" y="1115568"/>
            <a:ext cx="3200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A85EF5"/>
                </a:solidFill>
              </a:rPr>
              <a:t>5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364224" y="1463040"/>
            <a:ext cx="12801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</a:rPr>
              <a:t>KGE Blend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364224" y="1847088"/>
            <a:ext cx="128016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CBD5E1"/>
                </a:solidFill>
              </a:rPr>
              <a:t>Weighted average
of LGB &amp; XGB</a:t>
            </a:r>
          </a:p>
        </p:txBody>
      </p:sp>
      <p:sp>
        <p:nvSpPr>
          <p:cNvPr id="34" name="Rectangle 33"/>
          <p:cNvSpPr/>
          <p:nvPr/>
        </p:nvSpPr>
        <p:spPr>
          <a:xfrm>
            <a:off x="7708392" y="1600200"/>
            <a:ext cx="109728" cy="19050"/>
          </a:xfrm>
          <a:prstGeom prst="rect">
            <a:avLst/>
          </a:prstGeom>
          <a:solidFill>
            <a:srgbClr val="A85E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7818120" y="1005840"/>
            <a:ext cx="1371600" cy="1325880"/>
          </a:xfrm>
          <a:prstGeom prst="rect">
            <a:avLst/>
          </a:prstGeom>
          <a:solidFill>
            <a:srgbClr val="0F1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7818120" y="1005840"/>
            <a:ext cx="1371600" cy="73152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7863840" y="1115568"/>
            <a:ext cx="3200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F59E0B"/>
                </a:solidFill>
              </a:rPr>
              <a:t>6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7863840" y="1463040"/>
            <a:ext cx="12801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</a:rPr>
              <a:t>Specialist Override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7863840" y="1847088"/>
            <a:ext cx="128016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CBD5E1"/>
                </a:solidFill>
              </a:rPr>
              <a:t>Replace worst-10
with specialist LGB</a:t>
            </a:r>
          </a:p>
        </p:txBody>
      </p:sp>
      <p:sp>
        <p:nvSpPr>
          <p:cNvPr id="40" name="Rectangle 39"/>
          <p:cNvSpPr/>
          <p:nvPr/>
        </p:nvSpPr>
        <p:spPr>
          <a:xfrm>
            <a:off x="9208008" y="1600200"/>
            <a:ext cx="109728" cy="1905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9317736" y="1005840"/>
            <a:ext cx="1371600" cy="1325880"/>
          </a:xfrm>
          <a:prstGeom prst="rect">
            <a:avLst/>
          </a:prstGeom>
          <a:solidFill>
            <a:srgbClr val="0F1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9317736" y="1005840"/>
            <a:ext cx="1371600" cy="73152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9363456" y="1115568"/>
            <a:ext cx="3200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06B6D4"/>
                </a:solidFill>
              </a:rPr>
              <a:t>7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9363456" y="1463040"/>
            <a:ext cx="12801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</a:rPr>
              <a:t>Bias Correction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9363456" y="1847088"/>
            <a:ext cx="128016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CBD5E1"/>
                </a:solidFill>
              </a:rPr>
              <a:t>Multiply by per-
station scale factor</a:t>
            </a:r>
          </a:p>
        </p:txBody>
      </p:sp>
      <p:sp>
        <p:nvSpPr>
          <p:cNvPr id="46" name="Rectangle 45"/>
          <p:cNvSpPr/>
          <p:nvPr/>
        </p:nvSpPr>
        <p:spPr>
          <a:xfrm>
            <a:off x="10707624" y="1600200"/>
            <a:ext cx="109728" cy="19050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ectangle 46"/>
          <p:cNvSpPr/>
          <p:nvPr/>
        </p:nvSpPr>
        <p:spPr>
          <a:xfrm>
            <a:off x="10817352" y="1005840"/>
            <a:ext cx="1371600" cy="1325880"/>
          </a:xfrm>
          <a:prstGeom prst="rect">
            <a:avLst/>
          </a:prstGeom>
          <a:solidFill>
            <a:srgbClr val="0F1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ectangle 47"/>
          <p:cNvSpPr/>
          <p:nvPr/>
        </p:nvSpPr>
        <p:spPr>
          <a:xfrm>
            <a:off x="10817352" y="1005840"/>
            <a:ext cx="1371600" cy="73152"/>
          </a:xfrm>
          <a:prstGeom prst="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10863072" y="1115568"/>
            <a:ext cx="3200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22C55E"/>
                </a:solidFill>
              </a:rPr>
              <a:t>8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10863072" y="1463040"/>
            <a:ext cx="12801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</a:rPr>
              <a:t>Inverse Delta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10863072" y="1847088"/>
            <a:ext cx="128016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CBD5E1"/>
                </a:solidFill>
              </a:rPr>
              <a:t>Q(t+1) = Q(t) ×
exp(Δlog(Q))</a:t>
            </a:r>
          </a:p>
        </p:txBody>
      </p:sp>
      <p:sp>
        <p:nvSpPr>
          <p:cNvPr id="52" name="Rectangle 51"/>
          <p:cNvSpPr/>
          <p:nvPr/>
        </p:nvSpPr>
        <p:spPr>
          <a:xfrm>
            <a:off x="457200" y="2606040"/>
            <a:ext cx="11247120" cy="2011680"/>
          </a:xfrm>
          <a:prstGeom prst="rect">
            <a:avLst/>
          </a:prstGeom>
          <a:solidFill>
            <a:srgbClr val="0917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640080" y="2697480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64748B"/>
                </a:solidFill>
              </a:rPr>
              <a:t># Key delta-target logic (utils.py)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731520" y="3063240"/>
            <a:ext cx="10972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22C55E"/>
                </a:solidFill>
              </a:rPr>
              <a:t>delta_pred  =  lgb_model.predict(X) * w_lgb  +  xgb_model.predict(X) * w_xgb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731520" y="3447288"/>
            <a:ext cx="10972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22C55E"/>
                </a:solidFill>
              </a:rPr>
              <a:t>q_pred_raw  =  np.exp(np.log1p(q_t)  +  delta_pred)  -  1          # inverse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731520" y="3831336"/>
            <a:ext cx="10972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22C55E"/>
                </a:solidFill>
              </a:rPr>
              <a:t>q_pred      =  q_pred_raw  *  bias_scale[station_id]               # correction</a:t>
            </a:r>
          </a:p>
        </p:txBody>
      </p:sp>
      <p:sp>
        <p:nvSpPr>
          <p:cNvPr id="57" name="Rectangle 56"/>
          <p:cNvSpPr/>
          <p:nvPr/>
        </p:nvSpPr>
        <p:spPr>
          <a:xfrm>
            <a:off x="0" y="6793992"/>
            <a:ext cx="12188952" cy="64008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11247120" y="6492240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64748B"/>
                </a:solidFill>
              </a:rPr>
              <a:t>7 / 10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101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4008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64592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FFFFFF"/>
                </a:solidFill>
              </a:rPr>
              <a:t>Streamlit Dashboard — Live Demo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777240"/>
            <a:ext cx="11064240" cy="2540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57200" y="960120"/>
            <a:ext cx="2743200" cy="4937760"/>
          </a:xfrm>
          <a:prstGeom prst="rect">
            <a:avLst/>
          </a:prstGeom>
          <a:solidFill>
            <a:srgbClr val="0F1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57200" y="960120"/>
            <a:ext cx="2743200" cy="64008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94360" y="1078992"/>
            <a:ext cx="2468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3B82F6"/>
                </a:solidFill>
              </a:rPr>
              <a:t>🏠 Home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1572768"/>
            <a:ext cx="24688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CBD5E1"/>
                </a:solidFill>
              </a:rPr>
              <a:t>Hero dashboard with 365-day
animated demo time-series
and KGE metrics display</a:t>
            </a:r>
          </a:p>
        </p:txBody>
      </p:sp>
      <p:sp>
        <p:nvSpPr>
          <p:cNvPr id="9" name="Rectangle 8"/>
          <p:cNvSpPr/>
          <p:nvPr/>
        </p:nvSpPr>
        <p:spPr>
          <a:xfrm>
            <a:off x="594360" y="2788920"/>
            <a:ext cx="2468880" cy="2560320"/>
          </a:xfrm>
          <a:prstGeom prst="rect">
            <a:avLst/>
          </a:prstGeom>
          <a:solidFill>
            <a:srgbClr val="0917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85800" y="2926080"/>
            <a:ext cx="1371600" cy="1905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85800" y="3429000"/>
            <a:ext cx="2103120" cy="1905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85800" y="3931920"/>
            <a:ext cx="1371600" cy="1905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85800" y="4434840"/>
            <a:ext cx="2103120" cy="1905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3447288" y="960120"/>
            <a:ext cx="2743200" cy="4937760"/>
          </a:xfrm>
          <a:prstGeom prst="rect">
            <a:avLst/>
          </a:prstGeom>
          <a:solidFill>
            <a:srgbClr val="0F1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3447288" y="960120"/>
            <a:ext cx="2743200" cy="64008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584448" y="1078992"/>
            <a:ext cx="2468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F59E0B"/>
                </a:solidFill>
              </a:rPr>
              <a:t>🔮 Predict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584448" y="1572768"/>
            <a:ext cx="24688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CBD5E1"/>
                </a:solidFill>
              </a:rPr>
              <a:t>Upload CSV → live inference
pipeline → download predictions
as CSV with confidence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584448" y="2788920"/>
            <a:ext cx="2468880" cy="2560320"/>
          </a:xfrm>
          <a:prstGeom prst="rect">
            <a:avLst/>
          </a:prstGeom>
          <a:solidFill>
            <a:srgbClr val="0917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3675888" y="2926080"/>
            <a:ext cx="1371600" cy="1905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3675888" y="3429000"/>
            <a:ext cx="2103120" cy="1905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3675888" y="3931920"/>
            <a:ext cx="1371600" cy="1905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3675888" y="4434840"/>
            <a:ext cx="2103120" cy="1905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437376" y="960120"/>
            <a:ext cx="2743200" cy="4937760"/>
          </a:xfrm>
          <a:prstGeom prst="rect">
            <a:avLst/>
          </a:prstGeom>
          <a:solidFill>
            <a:srgbClr val="0F1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6437376" y="960120"/>
            <a:ext cx="2743200" cy="64008"/>
          </a:xfrm>
          <a:prstGeom prst="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574536" y="1078992"/>
            <a:ext cx="2468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22C55E"/>
                </a:solidFill>
              </a:rPr>
              <a:t>📊 Explorer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574536" y="1572768"/>
            <a:ext cx="24688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CBD5E1"/>
                </a:solidFill>
              </a:rPr>
              <a:t>Interactive Plotly charts:
flow analysis, rain-flow
correlation, station KGE spider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574536" y="2788920"/>
            <a:ext cx="2468880" cy="2560320"/>
          </a:xfrm>
          <a:prstGeom prst="rect">
            <a:avLst/>
          </a:prstGeom>
          <a:solidFill>
            <a:srgbClr val="0917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6665976" y="2926080"/>
            <a:ext cx="1371600" cy="19050"/>
          </a:xfrm>
          <a:prstGeom prst="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6665976" y="3429000"/>
            <a:ext cx="2103120" cy="19050"/>
          </a:xfrm>
          <a:prstGeom prst="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6665976" y="3931920"/>
            <a:ext cx="1371600" cy="19050"/>
          </a:xfrm>
          <a:prstGeom prst="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6665976" y="4434840"/>
            <a:ext cx="2103120" cy="19050"/>
          </a:xfrm>
          <a:prstGeom prst="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9427464" y="960120"/>
            <a:ext cx="2743200" cy="4937760"/>
          </a:xfrm>
          <a:prstGeom prst="rect">
            <a:avLst/>
          </a:prstGeom>
          <a:solidFill>
            <a:srgbClr val="0F1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9427464" y="960120"/>
            <a:ext cx="2743200" cy="64008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9564624" y="1078992"/>
            <a:ext cx="2468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06B6D4"/>
                </a:solidFill>
              </a:rPr>
              <a:t>🧠 How It Works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564624" y="1572768"/>
            <a:ext cx="24688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CBD5E1"/>
                </a:solidFill>
              </a:rPr>
              <a:t>Pipeline explainer with delta-
target visualisation and
architecture diagrams</a:t>
            </a:r>
          </a:p>
        </p:txBody>
      </p:sp>
      <p:sp>
        <p:nvSpPr>
          <p:cNvPr id="36" name="Rectangle 35"/>
          <p:cNvSpPr/>
          <p:nvPr/>
        </p:nvSpPr>
        <p:spPr>
          <a:xfrm>
            <a:off x="9564624" y="2788920"/>
            <a:ext cx="2468880" cy="2560320"/>
          </a:xfrm>
          <a:prstGeom prst="rect">
            <a:avLst/>
          </a:prstGeom>
          <a:solidFill>
            <a:srgbClr val="0917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9656064" y="2926080"/>
            <a:ext cx="1371600" cy="19050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9656064" y="3429000"/>
            <a:ext cx="2103120" cy="19050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9656064" y="3931920"/>
            <a:ext cx="1371600" cy="19050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9656064" y="4434840"/>
            <a:ext cx="2103120" cy="19050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457200" y="5943600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22C55E"/>
                </a:solidFill>
              </a:rPr>
              <a:t>🌐  Deployed on Streamlit Community Cloud — accessible globally</a:t>
            </a:r>
          </a:p>
        </p:txBody>
      </p:sp>
      <p:sp>
        <p:nvSpPr>
          <p:cNvPr id="42" name="Rectangle 41"/>
          <p:cNvSpPr/>
          <p:nvPr/>
        </p:nvSpPr>
        <p:spPr>
          <a:xfrm>
            <a:off x="0" y="6793992"/>
            <a:ext cx="12188952" cy="64008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11247120" y="6492240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64748B"/>
                </a:solidFill>
              </a:rPr>
              <a:t>8 / 10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101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4008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64592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FFFFFF"/>
                </a:solidFill>
              </a:rPr>
              <a:t>Technical Stack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777240"/>
            <a:ext cx="11064240" cy="2540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57200" y="1005840"/>
            <a:ext cx="3611880" cy="5120640"/>
          </a:xfrm>
          <a:prstGeom prst="rect">
            <a:avLst/>
          </a:prstGeom>
          <a:solidFill>
            <a:srgbClr val="0F1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57200" y="1005840"/>
            <a:ext cx="3611880" cy="64008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21792" y="1115568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3B82F6"/>
                </a:solidFill>
              </a:rPr>
              <a:t>🤖 ML / Training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8368" y="1572768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CBD5E1"/>
                </a:solidFill>
              </a:rPr>
              <a:t>▸  LightGBM 4.x  (511 leaves, GPU)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8368" y="1956816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CBD5E1"/>
                </a:solidFill>
              </a:rPr>
              <a:t>▸  XGBoost 2.x   (depth=9, CUDA)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8368" y="2340864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CBD5E1"/>
                </a:solidFill>
              </a:rPr>
              <a:t>▸  scikit-learn   (preprocessing)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58368" y="2724912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CBD5E1"/>
                </a:solidFill>
              </a:rPr>
              <a:t>▸  scipy.optimize (KGE blending)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8368" y="310896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CBD5E1"/>
                </a:solidFill>
              </a:rPr>
              <a:t>▸  numpy / pandas (feature eng.)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297680" y="1005840"/>
            <a:ext cx="3611880" cy="5120640"/>
          </a:xfrm>
          <a:prstGeom prst="rect">
            <a:avLst/>
          </a:prstGeom>
          <a:solidFill>
            <a:srgbClr val="0F1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297680" y="1005840"/>
            <a:ext cx="3611880" cy="64008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462272" y="1115568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59E0B"/>
                </a:solidFill>
              </a:rPr>
              <a:t>🖥️ App / UI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498848" y="1572768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CBD5E1"/>
                </a:solidFill>
              </a:rPr>
              <a:t>▸  Streamlit 1.35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498848" y="1956816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CBD5E1"/>
                </a:solidFill>
              </a:rPr>
              <a:t>▸  Plotly 5.x (interactive charts)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498848" y="2340864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CBD5E1"/>
                </a:solidFill>
              </a:rPr>
              <a:t>▸  st.tabs() navigation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498848" y="2724912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CBD5E1"/>
                </a:solidFill>
              </a:rPr>
              <a:t>▸  Custom CSS dark-mode theme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498848" y="310896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CBD5E1"/>
                </a:solidFill>
              </a:rPr>
              <a:t>▸  Google Fonts (Inter)</a:t>
            </a:r>
          </a:p>
        </p:txBody>
      </p:sp>
      <p:sp>
        <p:nvSpPr>
          <p:cNvPr id="21" name="Rectangle 20"/>
          <p:cNvSpPr/>
          <p:nvPr/>
        </p:nvSpPr>
        <p:spPr>
          <a:xfrm>
            <a:off x="8138160" y="1005840"/>
            <a:ext cx="3611880" cy="5120640"/>
          </a:xfrm>
          <a:prstGeom prst="rect">
            <a:avLst/>
          </a:prstGeom>
          <a:solidFill>
            <a:srgbClr val="0F1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8138160" y="1005840"/>
            <a:ext cx="3611880" cy="64008"/>
          </a:xfrm>
          <a:prstGeom prst="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302752" y="1115568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22C55E"/>
                </a:solidFill>
              </a:rPr>
              <a:t>☁️ Deployment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339328" y="1572768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CBD5E1"/>
                </a:solidFill>
              </a:rPr>
              <a:t>▸  Streamlit Community Cloud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339328" y="1956816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CBD5E1"/>
                </a:solidFill>
              </a:rPr>
              <a:t>▸  Hugging Face (model storage)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339328" y="2340864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CBD5E1"/>
                </a:solidFill>
              </a:rPr>
              <a:t>▸  huggingface_hub (auto-download)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339328" y="2724912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CBD5E1"/>
                </a:solidFill>
              </a:rPr>
              <a:t>▸  GitHub (source control)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339328" y="310896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CBD5E1"/>
                </a:solidFill>
              </a:rPr>
              <a:t>▸  Python 3.11</a:t>
            </a:r>
          </a:p>
        </p:txBody>
      </p:sp>
      <p:sp>
        <p:nvSpPr>
          <p:cNvPr id="29" name="Rectangle 28"/>
          <p:cNvSpPr/>
          <p:nvPr/>
        </p:nvSpPr>
        <p:spPr>
          <a:xfrm>
            <a:off x="0" y="6793992"/>
            <a:ext cx="12188952" cy="64008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1247120" y="6492240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64748B"/>
                </a:solidFill>
              </a:rPr>
              <a:t>9 / 10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101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4008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64592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FFFFFF"/>
                </a:solidFill>
              </a:rPr>
              <a:t>Conclusion &amp; Future Work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777240"/>
            <a:ext cx="11064240" cy="2540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57200" y="960120"/>
            <a:ext cx="5486400" cy="4846320"/>
          </a:xfrm>
          <a:prstGeom prst="rect">
            <a:avLst/>
          </a:prstGeom>
          <a:solidFill>
            <a:srgbClr val="0F1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1051560"/>
            <a:ext cx="5120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22C55E"/>
                </a:solidFill>
              </a:rPr>
              <a:t>✅  What We Achieved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508760"/>
            <a:ext cx="51206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CBD5E1"/>
                </a:solidFill>
              </a:rPr>
              <a:t>✓  Val KGE 0.999875 — near-perfect hydrological skill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847088"/>
            <a:ext cx="51206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CBD5E1"/>
                </a:solidFill>
              </a:rPr>
              <a:t>✓  Delta-target: 10× variance reduction vs direct prediction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2185416"/>
            <a:ext cx="51206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CBD5E1"/>
                </a:solidFill>
              </a:rPr>
              <a:t>✓  10 specialist models for the hardest gauge stations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2523744"/>
            <a:ext cx="51206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CBD5E1"/>
                </a:solidFill>
              </a:rPr>
              <a:t>✓  KGE-optimised ensemble blending (scipy, 40 restarts)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2862072"/>
            <a:ext cx="51206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CBD5E1"/>
                </a:solidFill>
              </a:rPr>
              <a:t>✓  Full inference pipeline with bias correction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3200400"/>
            <a:ext cx="51206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CBD5E1"/>
                </a:solidFill>
              </a:rPr>
              <a:t>✓  Live Streamlit dashboard deployed globally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" y="3538728"/>
            <a:ext cx="51206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CBD5E1"/>
                </a:solidFill>
              </a:rPr>
              <a:t>✓  Auto model download from Hugging Face on cold start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309360" y="960120"/>
            <a:ext cx="5394960" cy="4846320"/>
          </a:xfrm>
          <a:prstGeom prst="rect">
            <a:avLst/>
          </a:prstGeom>
          <a:solidFill>
            <a:srgbClr val="0F1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92240" y="105156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3B82F6"/>
                </a:solidFill>
              </a:rPr>
              <a:t>🚀  Future Work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92240" y="1508760"/>
            <a:ext cx="5029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CBD5E1"/>
                </a:solidFill>
              </a:rPr>
              <a:t>→  LSTM / Transformer for temporal modelling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92240" y="1847088"/>
            <a:ext cx="5029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CBD5E1"/>
                </a:solidFill>
              </a:rPr>
              <a:t>→  Attention on upstream station signals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92240" y="2185416"/>
            <a:ext cx="5029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CBD5E1"/>
                </a:solidFill>
              </a:rPr>
              <a:t>→  Satellite imagery integration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92240" y="2523744"/>
            <a:ext cx="5029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CBD5E1"/>
                </a:solidFill>
              </a:rPr>
              <a:t>→  Real-time weather API ingestion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92240" y="2862072"/>
            <a:ext cx="5029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CBD5E1"/>
                </a:solidFill>
              </a:rPr>
              <a:t>→  Uncertainty quantification (conformal pred.)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92240" y="3200400"/>
            <a:ext cx="5029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CBD5E1"/>
                </a:solidFill>
              </a:rPr>
              <a:t>→  Early-warning alert system integration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92240" y="3538728"/>
            <a:ext cx="5029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CBD5E1"/>
                </a:solidFill>
              </a:rPr>
              <a:t>→  Extend to Brahmaputra tributaries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57200" y="5989320"/>
            <a:ext cx="11247120" cy="594360"/>
          </a:xfrm>
          <a:prstGeom prst="rect">
            <a:avLst/>
          </a:prstGeom>
          <a:solidFill>
            <a:srgbClr val="042B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40080" y="6053328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22C55E"/>
                </a:solidFill>
              </a:rPr>
              <a:t>🌊  Flood Prediction AI  ·  Team Aether  ·  IIIT Lucknow StreamFlow Challenge 2026  ·  Val KGE: 0.999875</a:t>
            </a:r>
          </a:p>
        </p:txBody>
      </p:sp>
      <p:sp>
        <p:nvSpPr>
          <p:cNvPr id="25" name="Rectangle 24"/>
          <p:cNvSpPr/>
          <p:nvPr/>
        </p:nvSpPr>
        <p:spPr>
          <a:xfrm>
            <a:off x="0" y="6793992"/>
            <a:ext cx="12188952" cy="64008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1247120" y="6492240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64748B"/>
                </a:solidFill>
              </a:rPr>
              <a:t>10 / 10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